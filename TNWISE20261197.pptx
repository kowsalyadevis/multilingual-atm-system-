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5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Monda" panose="020B0604020202020204" charset="0"/>
      <p:regular r:id="rId14"/>
    </p:embeddedFont>
    <p:embeddedFont>
      <p:font typeface="Monda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22" autoAdjust="0"/>
  </p:normalViewPr>
  <p:slideViewPr>
    <p:cSldViewPr>
      <p:cViewPr varScale="1">
        <p:scale>
          <a:sx n="54" d="100"/>
          <a:sy n="54" d="100"/>
        </p:scale>
        <p:origin x="444" y="-3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915A5-783B-4FBA-993C-6B1FF5CE78F6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05084-A1E8-4D35-AD0F-45EFE9C518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8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05084-A1E8-4D35-AD0F-45EFE9C518B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745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05084-A1E8-4D35-AD0F-45EFE9C518B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338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747" y="0"/>
            <a:ext cx="18358484" cy="1017159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0515600" y="5244502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4415704" y="1548010"/>
            <a:ext cx="1079021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TNWISE2026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0613" y="3049784"/>
            <a:ext cx="17513747" cy="148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3"/>
              </a:lnSpc>
            </a:pPr>
            <a:r>
              <a:rPr lang="en-US" sz="4245" b="1" dirty="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TAMIL NADU HACKATHON FOR WOMEN IN SCIENCE &amp;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101677"/>
            <a:ext cx="9486900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THEME: Inclusive Digital Transformation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143672"/>
            <a:ext cx="15049500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SUB -THEME: Human-Centric &amp; Inclusive Engineering Interface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2228" y="7088680"/>
            <a:ext cx="14644972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TITLE: Multilingual ATM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996868"/>
            <a:ext cx="14797372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COLLEGE: </a:t>
            </a:r>
            <a:r>
              <a:rPr lang="en-US" sz="3600" b="1" dirty="0" err="1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Adhiparasakthi</a:t>
            </a: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Engineering College , </a:t>
            </a:r>
            <a:r>
              <a:rPr lang="en-US" sz="3600" b="1" dirty="0" err="1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Melmaruvathur</a:t>
            </a: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2228" y="7909268"/>
            <a:ext cx="14797372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TEAM LEADER:  S. Kowsalya 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10380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514601" y="3467100"/>
            <a:ext cx="13868400" cy="4445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ATMs are widely used for banking, but many people in rural and semi-urban areas face difficulties due to language barriers and low literacy levels</a:t>
            </a:r>
            <a:r>
              <a:rPr lang="en-US" sz="3600" dirty="0">
                <a:solidFill>
                  <a:srgbClr val="002B5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da"/>
              </a:rPr>
              <a:t>,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ATMs support limited languages and rely on text-based instructions, making them hard to use for many users. This leads to dependency and lack of access to essential financial services. Therefore, a multilingual, voice-enabled ATM system is needed to provide simple, user-friendly, and inclusive banking access.</a:t>
            </a:r>
          </a:p>
          <a:p>
            <a:pPr algn="ctr">
              <a:lnSpc>
                <a:spcPts val="4555"/>
              </a:lnSpc>
            </a:pPr>
            <a:endParaRPr lang="en-US" sz="32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17815" y="1848629"/>
            <a:ext cx="12542281" cy="13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PROBLEM STATEMENT</a:t>
            </a:r>
          </a:p>
        </p:txBody>
      </p:sp>
      <p:sp>
        <p:nvSpPr>
          <p:cNvPr id="9" name="Freeform 9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153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4307884" y="1910882"/>
            <a:ext cx="9672231" cy="13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PROJECT GOALS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27566" y="3567200"/>
            <a:ext cx="12331634" cy="5382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human-centric multilingual ATM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voice-guided interaction for easy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users from diverse linguistic and literacy backgrounds.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simple, intuitive, and inclusive interface.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independent and accessible banking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others by enabling users to perform transactions independently.</a:t>
            </a:r>
          </a:p>
          <a:p>
            <a:pPr algn="l">
              <a:lnSpc>
                <a:spcPts val="3715"/>
              </a:lnSpc>
            </a:pPr>
            <a:endParaRPr lang="en-US" sz="26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342" y="-1866900"/>
            <a:ext cx="20435562" cy="1325547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pPr lvl="0"/>
            <a:endParaRPr lang="en-GB" dirty="0"/>
          </a:p>
        </p:txBody>
      </p:sp>
      <p:sp>
        <p:nvSpPr>
          <p:cNvPr id="3" name="Freeform 3"/>
          <p:cNvSpPr/>
          <p:nvPr/>
        </p:nvSpPr>
        <p:spPr>
          <a:xfrm flipH="1">
            <a:off x="11506200" y="590811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802175" y="-2061425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/>
          <p:cNvSpPr txBox="1"/>
          <p:nvPr/>
        </p:nvSpPr>
        <p:spPr>
          <a:xfrm>
            <a:off x="4307884" y="1748096"/>
            <a:ext cx="9672231" cy="13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METHODOLOGY</a:t>
            </a:r>
          </a:p>
        </p:txBody>
      </p:sp>
      <p:sp>
        <p:nvSpPr>
          <p:cNvPr id="9" name="Freeform 9"/>
          <p:cNvSpPr/>
          <p:nvPr/>
        </p:nvSpPr>
        <p:spPr>
          <a:xfrm>
            <a:off x="3464798" y="3427288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2" y="0"/>
                </a:lnTo>
                <a:lnTo>
                  <a:pt x="587072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3464798" y="3309714"/>
            <a:ext cx="14061201" cy="6737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    RESEARCH APPROACH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real-world challenges in rural ATM usage.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multilingual, intuitive user interface.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voice-guided assistance for enhanced accessibility.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language barriers and literacy challenges.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ATM systems and their limitations.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gaps in accessibility and user experience.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7189"/>
              </a:lnSpc>
            </a:pPr>
            <a:endParaRPr lang="en-US" sz="5135" b="1" dirty="0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409279" y="59141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40" r="-834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DEB88D-6995-0DE1-8132-DA5032F75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38C2CE-7B37-DC74-10CE-225EDD5CD2AE}"/>
              </a:ext>
            </a:extLst>
          </p:cNvPr>
          <p:cNvSpPr/>
          <p:nvPr/>
        </p:nvSpPr>
        <p:spPr>
          <a:xfrm>
            <a:off x="180831" y="-38101"/>
            <a:ext cx="18273486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77" b="-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F156EC01-9CEE-9664-447A-B22C446DD68E}"/>
              </a:ext>
            </a:extLst>
          </p:cNvPr>
          <p:cNvSpPr/>
          <p:nvPr/>
        </p:nvSpPr>
        <p:spPr>
          <a:xfrm flipV="1">
            <a:off x="-1524000" y="-190500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8FEC1E-CD1D-2B55-8F38-14810162B78C}"/>
              </a:ext>
            </a:extLst>
          </p:cNvPr>
          <p:cNvSpPr/>
          <p:nvPr/>
        </p:nvSpPr>
        <p:spPr>
          <a:xfrm flipH="1">
            <a:off x="10820400" y="5163457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B14F2C42-ED2C-F104-E71D-63F9E0D3F5E1}"/>
              </a:ext>
            </a:extLst>
          </p:cNvPr>
          <p:cNvSpPr/>
          <p:nvPr/>
        </p:nvSpPr>
        <p:spPr>
          <a:xfrm>
            <a:off x="5997394" y="111934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40" r="-834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989A0FCA-618C-076A-90D2-8BB1CF712285}"/>
              </a:ext>
            </a:extLst>
          </p:cNvPr>
          <p:cNvSpPr/>
          <p:nvPr/>
        </p:nvSpPr>
        <p:spPr>
          <a:xfrm>
            <a:off x="7989612" y="219381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EEC688C-572B-9F4A-2F04-69872B81B872}"/>
              </a:ext>
            </a:extLst>
          </p:cNvPr>
          <p:cNvSpPr/>
          <p:nvPr/>
        </p:nvSpPr>
        <p:spPr>
          <a:xfrm>
            <a:off x="14714922" y="-2424013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9E295076-C542-3804-2759-AA435DF282E8}"/>
              </a:ext>
            </a:extLst>
          </p:cNvPr>
          <p:cNvSpPr/>
          <p:nvPr/>
        </p:nvSpPr>
        <p:spPr>
          <a:xfrm>
            <a:off x="-1143000" y="4859800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DF0971-ACDC-A113-0A96-2FEEA888D8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420" y="1908516"/>
            <a:ext cx="4802784" cy="3628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6D6A8F-C33D-EA45-2FBC-1463CB06DA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1" y="1758139"/>
            <a:ext cx="5102440" cy="38205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B2DAD0-202F-BB71-EE68-9853A00995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421" y="5705799"/>
            <a:ext cx="4802784" cy="38593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C5F95F-0DF8-0609-51F2-0B6D577D3C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1" y="5705799"/>
            <a:ext cx="5102440" cy="39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6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77" b="-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307884" y="2164133"/>
            <a:ext cx="6063753" cy="1386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RESULT</a:t>
            </a:r>
          </a:p>
        </p:txBody>
      </p:sp>
      <p:sp>
        <p:nvSpPr>
          <p:cNvPr id="10" name="Freeform 10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977FA-138F-6321-B331-6BA5FDAB50F3}"/>
              </a:ext>
            </a:extLst>
          </p:cNvPr>
          <p:cNvSpPr txBox="1"/>
          <p:nvPr/>
        </p:nvSpPr>
        <p:spPr>
          <a:xfrm>
            <a:off x="1676401" y="3390901"/>
            <a:ext cx="1064620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developed a human-centric ATM prototype with multilingual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voice-guided interaction to enhance accessibility.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usability for rural and low-literacy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independent and confident transaction experience.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a scalable solution for 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 digital          banking.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D3F2BE-9C2D-6211-EBF6-6093F4199A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65388" y="2968035"/>
            <a:ext cx="6277021" cy="3124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52600" y="2882259"/>
            <a:ext cx="16383000" cy="7128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Proposition: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User-friendly, multilingual ATM system enabling inclusive banking access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Customer: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Banks, financial institutions, rural and semi-urban users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Model: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licensing to banks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maintenance service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collaboration for rural deployment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Cost: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UI/UX design, software development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Cost: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 integration, language processing tools.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deployable across ATMs nationwide with  </a:t>
            </a:r>
          </a:p>
          <a:p>
            <a:pPr lvl="0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increasing adaption.          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359"/>
              </a:lnSpc>
            </a:pPr>
            <a:endParaRPr lang="en-US" sz="2400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31448" y="1511028"/>
            <a:ext cx="14283659" cy="13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BUSINESS MODEL &amp; COST</a:t>
            </a:r>
          </a:p>
        </p:txBody>
      </p:sp>
      <p:sp>
        <p:nvSpPr>
          <p:cNvPr id="9" name="Freeform 9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2">
            <a:extLst>
              <a:ext uri="{FF2B5EF4-FFF2-40B4-BE49-F238E27FC236}">
                <a16:creationId xmlns:a16="http://schemas.microsoft.com/office/drawing/2014/main" id="{61606AC4-DE23-6D4E-61C4-3C29F3AE1DB4}"/>
              </a:ext>
            </a:extLst>
          </p:cNvPr>
          <p:cNvSpPr/>
          <p:nvPr/>
        </p:nvSpPr>
        <p:spPr>
          <a:xfrm>
            <a:off x="76200" y="-103289"/>
            <a:ext cx="18249970" cy="1039028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pPr algn="ctr">
              <a:lnSpc>
                <a:spcPts val="11248"/>
              </a:lnSpc>
            </a:pPr>
            <a:endParaRPr lang="en-US" sz="8000" b="1" dirty="0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algn="ctr">
              <a:lnSpc>
                <a:spcPts val="11248"/>
              </a:lnSpc>
            </a:pPr>
            <a:r>
              <a:rPr lang="en-US" sz="8000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FUTURE SCOPE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ATMs into AI-powered, voice-driven smart systems.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* 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multilingual communication across diverse</a:t>
            </a:r>
          </a:p>
          <a:p>
            <a:pPr lvl="0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users.             </a:t>
            </a:r>
          </a:p>
          <a:p>
            <a:pPr lvl="0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security features like biometrics and facial</a:t>
            </a:r>
          </a:p>
          <a:p>
            <a:pPr lvl="0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recognition.</a:t>
            </a:r>
          </a:p>
          <a:p>
            <a:pPr lvl="0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 deployment to remote and underserved regions. </a:t>
            </a:r>
          </a:p>
          <a:p>
            <a:pPr lvl="0"/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Connect with digital banking ecosystems and smart devices.</a:t>
            </a:r>
          </a:p>
          <a:p>
            <a:pPr marL="571500" indent="-571500">
              <a:lnSpc>
                <a:spcPts val="11248"/>
              </a:lnSpc>
              <a:buFont typeface="Arial" panose="020B0604020202020204" pitchFamily="34" charset="0"/>
              <a:buChar char="•"/>
            </a:pPr>
            <a:endParaRPr lang="en-US" sz="4000" b="1" dirty="0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F6D146F5-04C2-B169-25EF-7D2958E68199}"/>
              </a:ext>
            </a:extLst>
          </p:cNvPr>
          <p:cNvSpPr/>
          <p:nvPr/>
        </p:nvSpPr>
        <p:spPr>
          <a:xfrm flipV="1">
            <a:off x="-1828800" y="-571500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99E96D5A-826D-E10E-508C-4F8A3D530D2D}"/>
              </a:ext>
            </a:extLst>
          </p:cNvPr>
          <p:cNvSpPr/>
          <p:nvPr/>
        </p:nvSpPr>
        <p:spPr>
          <a:xfrm flipH="1">
            <a:off x="10439400" y="537743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6248D2CE-48BB-B0BF-0FCD-A4DB566D3652}"/>
              </a:ext>
            </a:extLst>
          </p:cNvPr>
          <p:cNvSpPr/>
          <p:nvPr/>
        </p:nvSpPr>
        <p:spPr>
          <a:xfrm>
            <a:off x="14624481" y="-3238500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4D561F89-AD0B-2C31-A8B4-E50721C94B9E}"/>
              </a:ext>
            </a:extLst>
          </p:cNvPr>
          <p:cNvSpPr/>
          <p:nvPr/>
        </p:nvSpPr>
        <p:spPr>
          <a:xfrm>
            <a:off x="-609600" y="5061968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27D5A4C5-F0B6-32BE-FE90-DB7A1C63FBDF}"/>
              </a:ext>
            </a:extLst>
          </p:cNvPr>
          <p:cNvSpPr/>
          <p:nvPr/>
        </p:nvSpPr>
        <p:spPr>
          <a:xfrm>
            <a:off x="8153400" y="280670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636BF69E-CC2F-074F-F9BF-BC46F3AC4F79}"/>
              </a:ext>
            </a:extLst>
          </p:cNvPr>
          <p:cNvSpPr/>
          <p:nvPr/>
        </p:nvSpPr>
        <p:spPr>
          <a:xfrm>
            <a:off x="5562600" y="-90589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0" r="-834222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2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52600" y="3796890"/>
            <a:ext cx="15011400" cy="6466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4555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reimagines ATMs as inclusive, human-centric systems that break language and literacy barriers.</a:t>
            </a:r>
          </a:p>
          <a:p>
            <a:pPr marL="571500" indent="-571500">
              <a:lnSpc>
                <a:spcPts val="4555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multilingual and voice enabled interaction, it enables independent and confident banking for every user.</a:t>
            </a:r>
          </a:p>
          <a:p>
            <a:pPr marL="571500" indent="-571500">
              <a:lnSpc>
                <a:spcPts val="4555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bridges the digital divide by making financial services accessible to rural and underserved communities.</a:t>
            </a:r>
          </a:p>
          <a:p>
            <a:pPr marL="571500" indent="-571500">
              <a:lnSpc>
                <a:spcPts val="4555"/>
              </a:lnSpc>
              <a:buFont typeface="Arial" panose="020B0604020202020204" pitchFamily="34" charset="0"/>
              <a:buChar char="•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it transforms ATMs into empowering gateways for inclusive  digital marketing.</a:t>
            </a:r>
          </a:p>
          <a:p>
            <a:pPr>
              <a:lnSpc>
                <a:spcPts val="4555"/>
              </a:lnSpc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ts val="4555"/>
              </a:lnSpc>
            </a:pPr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307884" y="2120443"/>
            <a:ext cx="9672231" cy="13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CONCLUSION</a:t>
            </a:r>
          </a:p>
        </p:txBody>
      </p:sp>
      <p:sp>
        <p:nvSpPr>
          <p:cNvPr id="9" name="Freeform 9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10380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744475" y="1636727"/>
            <a:ext cx="15057605" cy="13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TEAM MEMBERS DETAILS</a:t>
            </a:r>
          </a:p>
        </p:txBody>
      </p:sp>
      <p:sp>
        <p:nvSpPr>
          <p:cNvPr id="8" name="Freeform 8"/>
          <p:cNvSpPr/>
          <p:nvPr/>
        </p:nvSpPr>
        <p:spPr>
          <a:xfrm>
            <a:off x="8014722" y="192972"/>
            <a:ext cx="6725310" cy="1286216"/>
          </a:xfrm>
          <a:custGeom>
            <a:avLst/>
            <a:gdLst/>
            <a:ahLst/>
            <a:cxnLst/>
            <a:rect l="l" t="t" r="r" b="b"/>
            <a:pathLst>
              <a:path w="6725310" h="1286216">
                <a:moveTo>
                  <a:pt x="0" y="0"/>
                </a:moveTo>
                <a:lnTo>
                  <a:pt x="6725310" y="0"/>
                </a:lnTo>
                <a:lnTo>
                  <a:pt x="6725310" y="1286215"/>
                </a:lnTo>
                <a:lnTo>
                  <a:pt x="0" y="128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5799084" y="0"/>
            <a:ext cx="1359331" cy="1479187"/>
          </a:xfrm>
          <a:custGeom>
            <a:avLst/>
            <a:gdLst/>
            <a:ahLst/>
            <a:cxnLst/>
            <a:rect l="l" t="t" r="r" b="b"/>
            <a:pathLst>
              <a:path w="1359331" h="1479187">
                <a:moveTo>
                  <a:pt x="0" y="0"/>
                </a:moveTo>
                <a:lnTo>
                  <a:pt x="1359331" y="0"/>
                </a:lnTo>
                <a:lnTo>
                  <a:pt x="1359331" y="1479187"/>
                </a:lnTo>
                <a:lnTo>
                  <a:pt x="0" y="147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0" r="-834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525108" y="3830125"/>
            <a:ext cx="5904336" cy="172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LEADER: S. Kowsalya Devi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SEM: 6</a:t>
            </a:r>
            <a:r>
              <a:rPr lang="en-US" sz="2800" b="1" baseline="30000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th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Semester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DEPARTMENT: BE(ECE)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YEAR:3</a:t>
            </a:r>
            <a:r>
              <a:rPr lang="en-US" sz="2800" b="1" baseline="30000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rd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Year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0664" y="3643215"/>
            <a:ext cx="6091672" cy="1727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MEMBER 1: S. Roshini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SEM:6</a:t>
            </a:r>
            <a:r>
              <a:rPr lang="en-US" sz="2800" b="1" baseline="30000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th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Semester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DEPARTMENT: BE(ECE)</a:t>
            </a:r>
          </a:p>
          <a:p>
            <a:pPr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YEAR: 3</a:t>
            </a:r>
            <a:r>
              <a:rPr lang="en-US" sz="2800" b="1" baseline="30000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rd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Year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080" y="6349646"/>
            <a:ext cx="5904336" cy="172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  MEMBER 2:  K. Gayathri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  SEM:6</a:t>
            </a:r>
            <a:r>
              <a:rPr lang="en-US" sz="2800" b="1" baseline="30000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th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Semester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  DEPARTMENT: BE(ECE)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  YEAR: 3</a:t>
            </a:r>
            <a:r>
              <a:rPr lang="en-US" sz="2800" b="1" baseline="30000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rd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year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0664" y="6351092"/>
            <a:ext cx="5904336" cy="216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MENTOR: M. Malathi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DESIGNATION: Professor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DEPARTMENT: ECE</a:t>
            </a:r>
          </a:p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COLLEGE  NAME: </a:t>
            </a:r>
            <a:r>
              <a:rPr lang="en-US" sz="2800" b="1" dirty="0" err="1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Adhiparasakthi</a:t>
            </a:r>
            <a:r>
              <a:rPr lang="en-US" sz="2800" b="1" dirty="0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 Engineering College,  </a:t>
            </a:r>
            <a:r>
              <a:rPr lang="en-US" sz="2800" b="1" dirty="0" err="1">
                <a:solidFill>
                  <a:srgbClr val="002B58"/>
                </a:solidFill>
                <a:latin typeface="Times New Roman" panose="02020603050405020304" pitchFamily="18" charset="0"/>
                <a:ea typeface="Monda Bold"/>
                <a:cs typeface="Times New Roman" panose="02020603050405020304" pitchFamily="18" charset="0"/>
                <a:sym typeface="Monda Bold"/>
              </a:rPr>
              <a:t>Melmaruvathur</a:t>
            </a:r>
            <a:r>
              <a:rPr lang="en-US" sz="2400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743480" y="4136923"/>
            <a:ext cx="12801040" cy="181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sz="106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572</Words>
  <Application>Microsoft Office PowerPoint</Application>
  <PresentationFormat>Custom</PresentationFormat>
  <Paragraphs>79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</vt:lpstr>
      <vt:lpstr>Calibri</vt:lpstr>
      <vt:lpstr>Monda</vt:lpstr>
      <vt:lpstr>Wingdings</vt:lpstr>
      <vt:lpstr>Monda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Elegant Presentation</dc:title>
  <dc:creator>TANCAM-E1</dc:creator>
  <cp:lastModifiedBy>Devi selvakumar</cp:lastModifiedBy>
  <cp:revision>11</cp:revision>
  <dcterms:created xsi:type="dcterms:W3CDTF">2006-08-16T00:00:00Z</dcterms:created>
  <dcterms:modified xsi:type="dcterms:W3CDTF">2026-04-01T15:01:05Z</dcterms:modified>
  <dc:identifier>DAHAXQzu0Nw</dc:identifier>
</cp:coreProperties>
</file>